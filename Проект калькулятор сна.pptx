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7" r:id="rId6"/>
    <p:sldId id="268" r:id="rId7"/>
    <p:sldId id="269" r:id="rId8"/>
    <p:sldId id="270" r:id="rId9"/>
    <p:sldId id="263" r:id="rId10"/>
    <p:sldId id="272" r:id="rId11"/>
    <p:sldId id="274" r:id="rId12"/>
    <p:sldId id="275" r:id="rId13"/>
    <p:sldId id="278" r:id="rId14"/>
    <p:sldId id="276" r:id="rId15"/>
    <p:sldId id="277" r:id="rId1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030A0"/>
    <a:srgbClr val="00B0F0"/>
    <a:srgbClr val="0070C0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6029" autoAdjust="0"/>
  </p:normalViewPr>
  <p:slideViewPr>
    <p:cSldViewPr snapToGrid="0" showGuides="1">
      <p:cViewPr varScale="1">
        <p:scale>
          <a:sx n="119" d="100"/>
          <a:sy n="119" d="100"/>
        </p:scale>
        <p:origin x="96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4" d="100"/>
        <a:sy n="114" d="100"/>
      </p:scale>
      <p:origin x="0" y="0"/>
    </p:cViewPr>
  </p:sorterViewPr>
  <p:notesViewPr>
    <p:cSldViewPr snapToGrid="0" showGuides="1">
      <p:cViewPr>
        <p:scale>
          <a:sx n="100" d="100"/>
          <a:sy n="100" d="100"/>
        </p:scale>
        <p:origin x="276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Совпадение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Время засыпания</c:v>
                </c:pt>
                <c:pt idx="1">
                  <c:v>Время пробуждения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8</c:v>
                </c:pt>
                <c:pt idx="1">
                  <c:v>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EA1-4F9F-AB34-7FF1E396233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Отклонение ≤ 30 минут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Время засыпания</c:v>
                </c:pt>
                <c:pt idx="1">
                  <c:v>Время пробуждения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7</c:v>
                </c:pt>
                <c:pt idx="1">
                  <c:v>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EA1-4F9F-AB34-7FF1E396233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Отклонение &gt; 30 минут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Время засыпания</c:v>
                </c:pt>
                <c:pt idx="1">
                  <c:v>Время пробуждения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9EA1-4F9F-AB34-7FF1E3962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402320"/>
        <c:axId val="169402704"/>
      </c:barChart>
      <c:catAx>
        <c:axId val="169402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69402704"/>
        <c:crosses val="autoZero"/>
        <c:auto val="1"/>
        <c:lblAlgn val="ctr"/>
        <c:lblOffset val="100"/>
        <c:noMultiLvlLbl val="0"/>
      </c:catAx>
      <c:valAx>
        <c:axId val="169402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40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8AFA8042-29A1-4486-A765-7552698406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08D8449A-A734-4B2E-9806-61303F24B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2483BDC-EF41-4E44-A8A3-5863DB25923C}" type="datetime1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F6605C2A-990C-4531-8CBF-BC3BEC0AF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xmlns="" id="{0D7358FE-F7D5-4C85-B0FD-2394F7F877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5BAE485-B3C6-4830-BBC8-C6E008BDD6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628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F56D27-BBA2-41DE-A4BF-4D998FDFCA54}" type="datetime1">
              <a:rPr lang="ru-RU" noProof="0" smtClean="0"/>
              <a:t>04.02.2026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85ACE04-E13C-4837-B6DD-B388E7CAA05E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8504410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23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85ACE04-E13C-4837-B6DD-B388E7CAA05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671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85ACE04-E13C-4837-B6DD-B388E7CAA05E}" type="slidenum">
              <a:rPr lang="ru-RU" noProof="0" smtClean="0"/>
              <a:t>9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44047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85ACE04-E13C-4837-B6DD-B388E7CAA05E}" type="slidenum">
              <a:rPr lang="ru-RU" noProof="0" smtClean="0"/>
              <a:t>10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22496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85ACE04-E13C-4837-B6DD-B388E7CAA05E}" type="slidenum">
              <a:rPr lang="ru-RU" noProof="0" smtClean="0"/>
              <a:t>12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33170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rtlCol="0"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42621B45-8A34-4881-B0D9-59BC3253BF20}" type="datetime1">
              <a:rPr lang="ru-RU" noProof="0" smtClean="0"/>
              <a:t>04.02.2026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2" y="4082142"/>
            <a:ext cx="16560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xmlns="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Овал 8">
              <a:extLst>
                <a:ext uri="{FF2B5EF4-FFF2-40B4-BE49-F238E27FC236}">
                  <a16:creationId xmlns:a16="http://schemas.microsoft.com/office/drawing/2014/main" xmlns="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xmlns="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xmlns="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8994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объект и большая фотограф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430" y="1046163"/>
            <a:ext cx="5445369" cy="1114784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1EC9302-80D9-4A88-8591-DE2D4BA1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0" y="2506662"/>
            <a:ext cx="5445370" cy="3454523"/>
          </a:xfrm>
        </p:spPr>
        <p:txBody>
          <a:bodyPr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800"/>
            </a:lvl1pPr>
            <a:lvl2pPr>
              <a:lnSpc>
                <a:spcPct val="100000"/>
              </a:lnSpc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buClr>
                <a:schemeClr val="accent1"/>
              </a:buClr>
              <a:defRPr sz="1400"/>
            </a:lvl3pPr>
            <a:lvl4pPr>
              <a:lnSpc>
                <a:spcPct val="100000"/>
              </a:lnSpc>
              <a:buClr>
                <a:schemeClr val="accent1"/>
              </a:buClr>
              <a:defRPr sz="1200"/>
            </a:lvl4pPr>
            <a:lvl5pPr>
              <a:lnSpc>
                <a:spcPct val="100000"/>
              </a:lnSpc>
              <a:buClr>
                <a:schemeClr val="accent1"/>
              </a:buClr>
              <a:defRPr sz="12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Объект 16">
            <a:extLst>
              <a:ext uri="{FF2B5EF4-FFF2-40B4-BE49-F238E27FC236}">
                <a16:creationId xmlns:a16="http://schemas.microsoft.com/office/drawing/2014/main" xmlns="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Название вашей компании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xmlns="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045" y="0"/>
            <a:ext cx="5210175" cy="5961063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xmlns="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19" y="2286312"/>
            <a:ext cx="22500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xmlns="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xmlns="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xmlns="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xmlns="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8052778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847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объект и три 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1046163"/>
            <a:ext cx="5445369" cy="1114784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 2">
            <a:extLst>
              <a:ext uri="{FF2B5EF4-FFF2-40B4-BE49-F238E27FC236}">
                <a16:creationId xmlns:a16="http://schemas.microsoft.com/office/drawing/2014/main" xmlns="" id="{61EC9302-80D9-4A88-8591-DE2D4BA1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6" y="2506662"/>
            <a:ext cx="5445370" cy="3454523"/>
          </a:xfrm>
        </p:spPr>
        <p:txBody>
          <a:bodyPr lIns="0" tIns="0" rIns="0" bIns="0" rtlCol="0"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Объект 16">
            <a:extLst>
              <a:ext uri="{FF2B5EF4-FFF2-40B4-BE49-F238E27FC236}">
                <a16:creationId xmlns:a16="http://schemas.microsoft.com/office/drawing/2014/main" xmlns="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Название вашей компании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xmlns="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9755" y="1"/>
            <a:ext cx="3430408" cy="4091942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xmlns="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-24056" y="2286312"/>
            <a:ext cx="23040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xmlns="" id="{4CF1D2ED-7B25-4251-BF07-47FBAA534810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xmlns="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xmlns="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xmlns="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8725921A-0ED5-431E-899C-28A6920B5029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EE8B169A-8A2F-4425-A9A1-1B828428B43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239813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Рисунок 9">
            <a:extLst>
              <a:ext uri="{FF2B5EF4-FFF2-40B4-BE49-F238E27FC236}">
                <a16:creationId xmlns:a16="http://schemas.microsoft.com/office/drawing/2014/main" xmlns="" id="{63A2A33D-4D91-454D-A35B-6DA97069EC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2186" y="555157"/>
            <a:ext cx="2649814" cy="4298197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Рисунок 9">
            <a:extLst>
              <a:ext uri="{FF2B5EF4-FFF2-40B4-BE49-F238E27FC236}">
                <a16:creationId xmlns:a16="http://schemas.microsoft.com/office/drawing/2014/main" xmlns="" id="{7EC67FB7-777C-473E-95B8-585AA8E6640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19754" y="4289110"/>
            <a:ext cx="3430407" cy="1672075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405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оризонтальное изображение на половине слай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 rtl="0"/>
            <a:r>
              <a:rPr lang="ru-RU" noProof="0"/>
              <a:t>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E8BFC94-FFEC-4290-AC27-760323F21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39691"/>
            <a:ext cx="10515600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800" b="0" cap="none" baseline="0" dirty="0" smtClean="0"/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xmlns="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13018"/>
          </a:xfrm>
          <a:solidFill>
            <a:schemeClr val="bg1">
              <a:lumMod val="8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бъект 16">
            <a:extLst>
              <a:ext uri="{FF2B5EF4-FFF2-40B4-BE49-F238E27FC236}">
                <a16:creationId xmlns:a16="http://schemas.microsoft.com/office/drawing/2014/main" xmlns="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Название вашей компании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xmlns="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Овал 18">
              <a:extLst>
                <a:ext uri="{FF2B5EF4-FFF2-40B4-BE49-F238E27FC236}">
                  <a16:creationId xmlns:a16="http://schemas.microsoft.com/office/drawing/2014/main" xmlns="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</p:spTree>
    <p:extLst>
      <p:ext uri="{BB962C8B-B14F-4D97-AF65-F5344CB8AC3E}">
        <p14:creationId xmlns:p14="http://schemas.microsoft.com/office/powerpoint/2010/main" val="427806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712D9B6D-CE43-4FB1-87C0-D3565E730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0986" y="2426274"/>
            <a:ext cx="3008434" cy="601087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 3">
            <a:extLst>
              <a:ext uri="{FF2B5EF4-FFF2-40B4-BE49-F238E27FC236}">
                <a16:creationId xmlns:a16="http://schemas.microsoft.com/office/drawing/2014/main" xmlns="" id="{249D73CD-EB11-4ED6-80CF-B68320D57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986" y="3097702"/>
            <a:ext cx="3008434" cy="3091961"/>
          </a:xfrm>
        </p:spPr>
        <p:txBody>
          <a:bodyPr lIns="0" tIns="0" rIns="0" bIns="0" rtlCol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1" name="Объект 16">
            <a:extLst>
              <a:ext uri="{FF2B5EF4-FFF2-40B4-BE49-F238E27FC236}">
                <a16:creationId xmlns:a16="http://schemas.microsoft.com/office/drawing/2014/main" xmlns="" id="{57889B18-CC7E-47A7-B83B-45D7871D2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Название вашей компании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xmlns="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3385227" cy="134113"/>
            <a:chOff x="-24055" y="1452565"/>
            <a:chExt cx="2374534" cy="0"/>
          </a:xfrm>
        </p:grpSpPr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xmlns="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xmlns="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3639489" y="421045"/>
            <a:ext cx="0" cy="5768619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 2">
            <a:extLst>
              <a:ext uri="{FF2B5EF4-FFF2-40B4-BE49-F238E27FC236}">
                <a16:creationId xmlns:a16="http://schemas.microsoft.com/office/drawing/2014/main" xmlns="" id="{A09F60F9-61AE-4464-B369-1CF86DB708D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870582" y="2426274"/>
            <a:ext cx="3008434" cy="601087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0" name="Объект 3">
            <a:extLst>
              <a:ext uri="{FF2B5EF4-FFF2-40B4-BE49-F238E27FC236}">
                <a16:creationId xmlns:a16="http://schemas.microsoft.com/office/drawing/2014/main" xmlns="" id="{124CEF01-2C7C-4568-8A45-5F5A058ECFC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870582" y="3097702"/>
            <a:ext cx="3008434" cy="3091961"/>
          </a:xfrm>
        </p:spPr>
        <p:txBody>
          <a:bodyPr lIns="0" tIns="0" rIns="0" bIns="0" rtlCol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3" name="Рисунок 8">
            <a:extLst>
              <a:ext uri="{FF2B5EF4-FFF2-40B4-BE49-F238E27FC236}">
                <a16:creationId xmlns:a16="http://schemas.microsoft.com/office/drawing/2014/main" xmlns="" id="{BAF86618-E012-4E70-91E3-A72E71C63E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986" y="1676296"/>
            <a:ext cx="587932" cy="587932"/>
          </a:xfrm>
          <a:noFill/>
        </p:spPr>
        <p:txBody>
          <a:bodyPr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24" name="Рисунок 8">
            <a:extLst>
              <a:ext uri="{FF2B5EF4-FFF2-40B4-BE49-F238E27FC236}">
                <a16:creationId xmlns:a16="http://schemas.microsoft.com/office/drawing/2014/main" xmlns="" id="{4FF378B9-734E-4C43-836C-CB80566DDB1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68008" y="1676296"/>
            <a:ext cx="587932" cy="587932"/>
          </a:xfrm>
          <a:noFill/>
        </p:spPr>
        <p:txBody>
          <a:bodyPr rtlCol="0"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xmlns="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xmlns="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xmlns="" id="{76F2CCF2-293A-49CA-B2A9-134BB5DEF98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080985" y="480157"/>
            <a:ext cx="6944563" cy="823912"/>
          </a:xfrm>
        </p:spPr>
        <p:txBody>
          <a:bodyPr lIns="0" tIns="0" rIns="0" bIns="0" rtlCol="0" anchor="ctr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xmlns="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219051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ое изображение на половине слайда (сиреневый цве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xmlns="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16488" y="0"/>
            <a:ext cx="6875511" cy="6858000"/>
          </a:xfrm>
          <a:solidFill>
            <a:schemeClr val="bg1">
              <a:lumMod val="8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9536DA47-61AF-4CF1-8DF3-3721934D13E3}"/>
              </a:ext>
            </a:extLst>
          </p:cNvPr>
          <p:cNvSpPr/>
          <p:nvPr userDrawn="1"/>
        </p:nvSpPr>
        <p:spPr>
          <a:xfrm>
            <a:off x="0" y="0"/>
            <a:ext cx="5316488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056FD760-FBDC-4410-A039-469F7931D3A3}"/>
              </a:ext>
            </a:extLst>
          </p:cNvPr>
          <p:cNvSpPr/>
          <p:nvPr userDrawn="1"/>
        </p:nvSpPr>
        <p:spPr>
          <a:xfrm>
            <a:off x="831850" y="1723292"/>
            <a:ext cx="5307246" cy="374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651" y="1087907"/>
            <a:ext cx="4468698" cy="1444275"/>
          </a:xfrm>
        </p:spPr>
        <p:txBody>
          <a:bodyPr vert="horz" lIns="91440" tIns="792000" rIns="91440" bIns="45720" rtlCol="0" anchor="t">
            <a:noAutofit/>
          </a:bodyPr>
          <a:lstStyle>
            <a:lvl1pPr algn="l">
              <a:defRPr lang="en-IN" sz="36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ЗАГОЛОВОК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6E8BFC94-FFEC-4290-AC27-760323F21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711" y="2552611"/>
            <a:ext cx="4097778" cy="1992819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800" b="0" cap="none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454990" y="1620451"/>
            <a:ext cx="2124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бъект 16">
            <a:extLst>
              <a:ext uri="{FF2B5EF4-FFF2-40B4-BE49-F238E27FC236}">
                <a16:creationId xmlns:a16="http://schemas.microsoft.com/office/drawing/2014/main" xmlns="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 rtlCol="0">
            <a:noAutofit/>
          </a:bodyPr>
          <a:lstStyle>
            <a:lvl1pPr marL="0" indent="0">
              <a:buNone/>
              <a:defRPr sz="1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Название вашей компании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xmlns="" id="{C5F2EA84-5150-479B-86D5-F4BAE1263488}"/>
              </a:ext>
            </a:extLst>
          </p:cNvPr>
          <p:cNvGrpSpPr/>
          <p:nvPr userDrawn="1"/>
        </p:nvGrpSpPr>
        <p:grpSpPr>
          <a:xfrm flipH="1">
            <a:off x="1130928" y="4803540"/>
            <a:ext cx="3616779" cy="3522776"/>
            <a:chOff x="2555621" y="3917613"/>
            <a:chExt cx="3616779" cy="352277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xmlns="" id="{C0699C4B-8D8E-47E2-A0C5-D71C25ABAC72}"/>
                </a:ext>
              </a:extLst>
            </p:cNvPr>
            <p:cNvSpPr/>
            <p:nvPr userDrawn="1"/>
          </p:nvSpPr>
          <p:spPr>
            <a:xfrm>
              <a:off x="2874028" y="4142017"/>
              <a:ext cx="3298372" cy="329837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2F607AB9-31A7-4B79-9AFE-0DFDB792E20C}"/>
                </a:ext>
              </a:extLst>
            </p:cNvPr>
            <p:cNvSpPr/>
            <p:nvPr userDrawn="1"/>
          </p:nvSpPr>
          <p:spPr>
            <a:xfrm>
              <a:off x="2555621" y="3917613"/>
              <a:ext cx="1268186" cy="126818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94174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33CABAC-B403-4354-A27F-4C38B08C1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885" y="2704121"/>
            <a:ext cx="6556248" cy="750278"/>
          </a:xfrm>
        </p:spPr>
        <p:txBody>
          <a:bodyPr rtlCol="0"/>
          <a:lstStyle>
            <a:lvl1pPr>
              <a:defRPr lang="en-US" sz="4800" b="1" kern="1200" cap="all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r>
              <a:rPr lang="ru-RU" noProof="0"/>
              <a:t>Спасибо за внимание!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7592157A-F310-47E2-82F1-980862A525E3}" type="datetime1">
              <a:rPr lang="ru-RU" noProof="0" smtClean="0"/>
              <a:t>04.02.2026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2" y="3760408"/>
            <a:ext cx="270000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Рисунок 13">
            <a:extLst>
              <a:ext uri="{FF2B5EF4-FFF2-40B4-BE49-F238E27FC236}">
                <a16:creationId xmlns:a16="http://schemas.microsoft.com/office/drawing/2014/main" xmlns="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pic>
        <p:nvPicPr>
          <p:cNvPr id="23" name="Графический объект 22" descr="Конверт">
            <a:extLst>
              <a:ext uri="{FF2B5EF4-FFF2-40B4-BE49-F238E27FC236}">
                <a16:creationId xmlns:a16="http://schemas.microsoft.com/office/drawing/2014/main" xmlns="" id="{3C32C7E5-809C-4E12-8962-1B868951E6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834803" y="4029040"/>
            <a:ext cx="469232" cy="469232"/>
          </a:xfrm>
          <a:prstGeom prst="rect">
            <a:avLst/>
          </a:prstGeom>
        </p:spPr>
      </p:pic>
      <p:sp>
        <p:nvSpPr>
          <p:cNvPr id="34" name="Подзаголовок 2">
            <a:extLst>
              <a:ext uri="{FF2B5EF4-FFF2-40B4-BE49-F238E27FC236}">
                <a16:creationId xmlns:a16="http://schemas.microsoft.com/office/drawing/2014/main" xmlns="" id="{31AD270F-1692-4526-B979-6B5945A20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809" y="4126311"/>
            <a:ext cx="3640478" cy="433938"/>
          </a:xfrm>
        </p:spPr>
        <p:txBody>
          <a:bodyPr rtlCol="0">
            <a:normAutofit/>
          </a:bodyPr>
          <a:lstStyle>
            <a:lvl1pPr marL="0" indent="0" algn="l">
              <a:buNone/>
              <a:defRPr sz="1800" b="0" cap="none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39" name="Объект 38">
            <a:extLst>
              <a:ext uri="{FF2B5EF4-FFF2-40B4-BE49-F238E27FC236}">
                <a16:creationId xmlns:a16="http://schemas.microsoft.com/office/drawing/2014/main" xmlns="" id="{382940E6-7963-411F-B35A-57121171A98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8614" y="4836222"/>
            <a:ext cx="3638674" cy="4539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b="0" cap="none" baseline="0" dirty="0" smtClean="0"/>
            </a:lvl1pPr>
            <a:lvl2pPr>
              <a:defRPr lang="en-US" sz="2000" dirty="0" smtClean="0"/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en-IN" sz="1600" dirty="0"/>
            </a:lvl5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xmlns="" id="{1F8FC2D7-B114-3444-8684-995FC4D6D459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CEE45073-ED8E-0544-85FA-9AF5A478417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B8BAF06E-A8A8-484C-8F6C-E42EDC46BBCB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586EB62D-13C7-6E43-9D98-B706D2B9ADDF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xmlns="" id="{35CF3453-ED5A-024D-8815-C08EFA13D1A6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pic>
        <p:nvPicPr>
          <p:cNvPr id="3" name="Графический объект 2" descr="Ссылка">
            <a:extLst>
              <a:ext uri="{FF2B5EF4-FFF2-40B4-BE49-F238E27FC236}">
                <a16:creationId xmlns:a16="http://schemas.microsoft.com/office/drawing/2014/main" xmlns="" id="{16E3F5A0-978F-8D46-BBFB-19A7F7883D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787152" y="4809677"/>
            <a:ext cx="542081" cy="54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rtlCol="0"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fld id="{05D0C391-A4FF-4D94-956A-00A747285391}" type="datetime1">
              <a:rPr lang="ru-RU" noProof="0" smtClean="0"/>
              <a:t>04.02.2026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xmlns="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Овал 8">
              <a:extLst>
                <a:ext uri="{FF2B5EF4-FFF2-40B4-BE49-F238E27FC236}">
                  <a16:creationId xmlns:a16="http://schemas.microsoft.com/office/drawing/2014/main" xmlns="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xmlns="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xmlns="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xmlns="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15" name="Овал 14">
            <a:extLst>
              <a:ext uri="{FF2B5EF4-FFF2-40B4-BE49-F238E27FC236}">
                <a16:creationId xmlns:a16="http://schemas.microsoft.com/office/drawing/2014/main" xmlns="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25F8A1A8-E078-4836-ABD1-CD4E75BBF58F}"/>
              </a:ext>
            </a:extLst>
          </p:cNvPr>
          <p:cNvSpPr/>
          <p:nvPr userDrawn="1"/>
        </p:nvSpPr>
        <p:spPr>
          <a:xfrm>
            <a:off x="0" y="0"/>
            <a:ext cx="4424363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6177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xmlns="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20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xmlns="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xmlns="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xmlns="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xmlns="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xmlns="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xmlns="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750802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9A55704E-D515-4774-90C6-5F887DDAE55E}"/>
              </a:ext>
            </a:extLst>
          </p:cNvPr>
          <p:cNvSpPr/>
          <p:nvPr userDrawn="1"/>
        </p:nvSpPr>
        <p:spPr>
          <a:xfrm>
            <a:off x="469044" y="1"/>
            <a:ext cx="5210176" cy="596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84878778-0299-471F-A4C9-D0C1E82ED8D2}"/>
              </a:ext>
            </a:extLst>
          </p:cNvPr>
          <p:cNvCxnSpPr>
            <a:cxnSpLocks/>
          </p:cNvCxnSpPr>
          <p:nvPr userDrawn="1"/>
        </p:nvCxnSpPr>
        <p:spPr>
          <a:xfrm>
            <a:off x="1001746" y="1290512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E39D1C78-6110-4052-8455-7E7893F7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466" y="1276857"/>
            <a:ext cx="4097778" cy="1255325"/>
          </a:xfrm>
        </p:spPr>
        <p:txBody>
          <a:bodyPr rtlCol="0"/>
          <a:lstStyle>
            <a:lvl1pPr>
              <a:defRPr lang="en-US" sz="3600" b="1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xmlns="" id="{E3405997-7AE2-4C6E-8A7D-735F58A49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5467" y="2620651"/>
            <a:ext cx="4097778" cy="1933681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b="0" cap="none" baseline="0">
                <a:solidFill>
                  <a:schemeClr val="bg1"/>
                </a:solidFill>
              </a:defRPr>
            </a:lvl1pPr>
          </a:lstStyle>
          <a:p>
            <a:pPr lvl="0" rtl="0">
              <a:lnSpc>
                <a:spcPct val="100000"/>
              </a:lnSpc>
              <a:buNone/>
            </a:pPr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3153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15" name="Текст 2">
            <a:extLst>
              <a:ext uri="{FF2B5EF4-FFF2-40B4-BE49-F238E27FC236}">
                <a16:creationId xmlns:a16="http://schemas.microsoft.com/office/drawing/2014/main" xmlns="" id="{BE814D66-F00F-0D44-AD03-889FEE787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FF9B990C-5D9C-4A90-AC73-5889BC9F7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xmlns="" id="{44C85E5F-5B5E-48CC-8469-0263621D91FF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xmlns="" id="{7EE4E300-6C8E-4262-BE1D-587C7B70E7ED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128970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16" name="Объект 3">
            <a:extLst>
              <a:ext uri="{FF2B5EF4-FFF2-40B4-BE49-F238E27FC236}">
                <a16:creationId xmlns:a16="http://schemas.microsoft.com/office/drawing/2014/main" xmlns="" id="{6E22FA8C-3243-4716-A6BD-F37D6058F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381" y="1825625"/>
            <a:ext cx="5481203" cy="435133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xmlns="" id="{8ABE3FD8-339C-4F75-876F-8347ADE67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416" y="1825625"/>
            <a:ext cx="5481203" cy="435133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xmlns="" id="{E72FB389-5EA4-4084-B7A2-A4D0A43561F6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xmlns="" id="{F7783FE1-0115-4345-89B2-C073569FB8EE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73661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27" name="Текст 4">
            <a:extLst>
              <a:ext uri="{FF2B5EF4-FFF2-40B4-BE49-F238E27FC236}">
                <a16:creationId xmlns:a16="http://schemas.microsoft.com/office/drawing/2014/main" xmlns="" id="{9F73353B-C50B-4A8A-87CF-657C1EB89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7380" y="1681163"/>
            <a:ext cx="5481203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8" name="Объект 5">
            <a:extLst>
              <a:ext uri="{FF2B5EF4-FFF2-40B4-BE49-F238E27FC236}">
                <a16:creationId xmlns:a16="http://schemas.microsoft.com/office/drawing/2014/main" xmlns="" id="{5EFF7F5E-3221-4390-9B17-D1944365B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7379" y="2586215"/>
            <a:ext cx="5481203" cy="360344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xmlns="" id="{9506B516-77C1-431B-A8A5-68FA5D4B6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6" y="1681163"/>
            <a:ext cx="548120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0" name="Объект 3">
            <a:extLst>
              <a:ext uri="{FF2B5EF4-FFF2-40B4-BE49-F238E27FC236}">
                <a16:creationId xmlns:a16="http://schemas.microsoft.com/office/drawing/2014/main" xmlns="" id="{860F1452-CAB9-4154-ADCC-9245E71D0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416" y="2586215"/>
            <a:ext cx="5481202" cy="360344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xmlns="" id="{12892DF4-5A8A-4E92-A425-210ABE570F58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xmlns="" id="{99AE2680-A46C-4B06-9ED9-53E617C1F17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155278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 rtl="0"/>
            <a:r>
              <a:rPr lang="ru-RU" noProof="0"/>
              <a:t>ЗАГОЛОВОК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xmlns="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Овал 18">
              <a:extLst>
                <a:ext uri="{FF2B5EF4-FFF2-40B4-BE49-F238E27FC236}">
                  <a16:creationId xmlns:a16="http://schemas.microsoft.com/office/drawing/2014/main" xmlns="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xmlns="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13" name="Текст 3">
            <a:extLst>
              <a:ext uri="{FF2B5EF4-FFF2-40B4-BE49-F238E27FC236}">
                <a16:creationId xmlns:a16="http://schemas.microsoft.com/office/drawing/2014/main" xmlns="" id="{86E0573A-023B-4D1C-8224-56A5D0DDF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839679"/>
            <a:ext cx="10507662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b="0" cap="none" baseline="0"/>
            </a:lvl1pPr>
          </a:lstStyle>
          <a:p>
            <a:pPr marL="228600" lvl="0" indent="-228600" algn="ctr" rtl="0">
              <a:lnSpc>
                <a:spcPct val="100000"/>
              </a:lnSpc>
            </a:pPr>
            <a:r>
              <a:rPr lang="ru-RU" noProof="0"/>
              <a:t>Образец текста</a:t>
            </a:r>
          </a:p>
        </p:txBody>
      </p:sp>
      <p:sp>
        <p:nvSpPr>
          <p:cNvPr id="15" name="Рисунок 2">
            <a:extLst>
              <a:ext uri="{FF2B5EF4-FFF2-40B4-BE49-F238E27FC236}">
                <a16:creationId xmlns:a16="http://schemas.microsoft.com/office/drawing/2014/main" xmlns="" id="{12087456-C0E8-4AA6-81E8-996CEC037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3713017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dirty="0"/>
            </a:lvl1pPr>
          </a:lstStyle>
          <a:p>
            <a:pPr marL="0" lvl="0" indent="0" algn="ctr" rtl="0">
              <a:buNone/>
            </a:pPr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821192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Заголовок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xmlns="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3385227" cy="134113"/>
            <a:chOff x="-24055" y="1452565"/>
            <a:chExt cx="2374534" cy="0"/>
          </a:xfrm>
        </p:grpSpPr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xmlns="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xmlns="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Овал 24">
            <a:extLst>
              <a:ext uri="{FF2B5EF4-FFF2-40B4-BE49-F238E27FC236}">
                <a16:creationId xmlns:a16="http://schemas.microsoft.com/office/drawing/2014/main" xmlns="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xmlns="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xmlns="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xmlns="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xmlns="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xmlns="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xmlns="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30" name="Текст 3">
            <a:extLst>
              <a:ext uri="{FF2B5EF4-FFF2-40B4-BE49-F238E27FC236}">
                <a16:creationId xmlns:a16="http://schemas.microsoft.com/office/drawing/2014/main" xmlns="" id="{1B247C0B-04BA-4D5C-A41D-AEA602172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416" y="2057400"/>
            <a:ext cx="3206261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xmlns="" id="{194C619D-34F6-4A29-857A-D7600721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084" y="246187"/>
            <a:ext cx="7467304" cy="561486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95175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13" name="Овал 12">
            <a:extLst>
              <a:ext uri="{FF2B5EF4-FFF2-40B4-BE49-F238E27FC236}">
                <a16:creationId xmlns:a16="http://schemas.microsoft.com/office/drawing/2014/main" xmlns="" id="{82D9D565-739D-4898-97BD-79EB8C7F91EC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xmlns="" id="{620FADA3-E777-489C-976D-0B0C4FD31310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36514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 rtlCol="0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8DCE8039-0D05-4A75-878A-907B8D44B9E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xmlns="" id="{C1402252-45E8-45B3-BA5E-DFA33A4547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xmlns="" id="{1300C883-1ACE-4AF3-9875-792A769588D5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xmlns="" id="{E75483D7-E612-43D2-9B0E-C69356C160DA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F279C5F2-4C7F-4470-A44F-E8AD69AC9FA0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87506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40D79E1-5F46-41CA-85E7-44C2A6C6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365125"/>
            <a:ext cx="11465168" cy="918553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7B0B511-05FD-459E-AC79-A87540961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xmlns="" id="{6DB98321-594C-4030-A2B0-3492F77EE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384" y="6463207"/>
            <a:ext cx="2743200" cy="258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pPr rtl="0"/>
            <a:fld id="{48BB047D-A6CD-43AB-96F0-683C726B586B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5365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62" r:id="rId5"/>
    <p:sldLayoutId id="2147483660" r:id="rId6"/>
    <p:sldLayoutId id="2147483663" r:id="rId7"/>
    <p:sldLayoutId id="2147483667" r:id="rId8"/>
    <p:sldLayoutId id="2147483668" r:id="rId9"/>
    <p:sldLayoutId id="2147483666" r:id="rId10"/>
    <p:sldLayoutId id="2147483669" r:id="rId11"/>
    <p:sldLayoutId id="2147483670" r:id="rId12"/>
    <p:sldLayoutId id="2147483671" r:id="rId13"/>
    <p:sldLayoutId id="2147483672" r:id="rId14"/>
    <p:sldLayoutId id="2147483664" r:id="rId15"/>
    <p:sldLayoutId id="2147483665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30359CD-8DFF-4AF2-B957-630ED2A60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6300" y="2726872"/>
            <a:ext cx="7233557" cy="1207633"/>
          </a:xfrm>
        </p:spPr>
        <p:txBody>
          <a:bodyPr rtlCol="0">
            <a:normAutofit/>
          </a:bodyPr>
          <a:lstStyle/>
          <a:p>
            <a:pPr rtl="0"/>
            <a:r>
              <a:rPr lang="ru-RU" sz="400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Веб-сайта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«Калькулятор сна»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F1DF7D53-1D50-48D8-B3B4-B9632324B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299" y="5783191"/>
            <a:ext cx="7233557" cy="986577"/>
          </a:xfrm>
        </p:spPr>
        <p:txBody>
          <a:bodyPr rtlCol="0"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ru-RU" sz="1400" kern="0" cap="none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Школа: ГБОУ «Школа имени Ф. М. Достоевского»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ru-RU" sz="1400" kern="0" cap="none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Класс: 10 «И»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ru-RU" sz="1400" kern="0" cap="none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Работу выполнили: </a:t>
            </a:r>
            <a:r>
              <a:rPr lang="ru-RU" sz="1400" kern="0" cap="none" dirty="0" err="1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Каюмова</a:t>
            </a:r>
            <a:r>
              <a:rPr lang="ru-RU" sz="1400" kern="0" cap="none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 Камилла </a:t>
            </a:r>
            <a:r>
              <a:rPr lang="ru-RU" sz="1400" kern="0" cap="none" dirty="0" err="1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Ринатовна</a:t>
            </a:r>
            <a:r>
              <a:rPr lang="ru-RU" sz="1400" kern="0" cap="none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, Рассказов Гордей Михайлович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lang="ru-RU" sz="1400" kern="0" cap="none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Руководитель: </a:t>
            </a:r>
            <a:r>
              <a:rPr lang="ru-RU" sz="1400" kern="0" cap="none" dirty="0" err="1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Животова</a:t>
            </a:r>
            <a:r>
              <a:rPr lang="ru-RU" sz="1400" kern="0" cap="none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 Елена Борисовна</a:t>
            </a:r>
          </a:p>
        </p:txBody>
      </p:sp>
      <p:pic>
        <p:nvPicPr>
          <p:cNvPr id="6" name="Рисунок 5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6390" b="6390"/>
          <a:stretch>
            <a:fillRect/>
          </a:stretch>
        </p:blipFill>
        <p:spPr>
          <a:xfrm rot="10800000">
            <a:off x="0" y="1"/>
            <a:ext cx="44243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DE2DD56-4C32-4F4E-A3AA-6B0C46EBBA73}"/>
              </a:ext>
            </a:extLst>
          </p:cNvPr>
          <p:cNvSpPr txBox="1"/>
          <p:nvPr/>
        </p:nvSpPr>
        <p:spPr>
          <a:xfrm>
            <a:off x="11792557" y="73825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6440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416" y="246186"/>
            <a:ext cx="3719300" cy="103749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416" y="1641309"/>
            <a:ext cx="1093269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Калькулятор сна актуален как способ расчёта оптимального времени пробуждения и засыпания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помогает: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Спланировать здоровый режим сна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максимальной продуктивности и хорошего самочувствия. Пробуждение в середине цикла, особенно во время глубокого медленного сна, вызывает состояние сонливости, заторможенности и сниженной работоспособности.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Учесть индивидуальные особенности организма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предлагая идеальное время для сна и пробуждения, учитывая, что сон цикличен и состоит из чередующихся фаз.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Помочь в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следующих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ситуациях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сна для офисных работников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сна для студентов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Адаптация к новому часовому поясу 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78243">
            <a:off x="7635949" y="5193633"/>
            <a:ext cx="1219200" cy="12192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473600">
            <a:off x="9761621" y="4249438"/>
            <a:ext cx="1219200" cy="12192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836" y="4096421"/>
            <a:ext cx="734047" cy="73404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643200" y="5621655"/>
            <a:ext cx="734047" cy="73404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309053" y="5069185"/>
            <a:ext cx="734047" cy="7340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FC893FF-F977-4D07-8EEB-7B44406A81BF}"/>
              </a:ext>
            </a:extLst>
          </p:cNvPr>
          <p:cNvSpPr txBox="1"/>
          <p:nvPr/>
        </p:nvSpPr>
        <p:spPr>
          <a:xfrm>
            <a:off x="11825679" y="61520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19682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416" y="246186"/>
            <a:ext cx="8331405" cy="1037492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Какую проблему решает проект?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416" y="1580301"/>
            <a:ext cx="115422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Калькулятор сна решает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проблему неоптимального пробуждения и недосыпания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помогая человеку просыпаться в наиболее 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благоприятной фазе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сна и тем самым улучшать самочувствие, продуктивность и качество жизни.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 проблемы, которые устраняет калькулятор сна: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Пробуждение в «неправильной» фазе сна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Хроническое недосыпание из‑за неправильного режима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Субъективная оценка времени засыпания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 планирования при сменной работе или смене часовых поясов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 осознанности в отношении собственного сна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816" y="5285479"/>
            <a:ext cx="1219200" cy="12192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788" y="4440726"/>
            <a:ext cx="1219200" cy="12192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997" y="4462247"/>
            <a:ext cx="1219200" cy="12192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416" y="2651864"/>
            <a:ext cx="1219200" cy="12192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025" y="5050326"/>
            <a:ext cx="1454353" cy="145435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495" y="4462247"/>
            <a:ext cx="1473911" cy="14739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F41F4DF-7E84-49BA-8530-44D38B45AC4F}"/>
              </a:ext>
            </a:extLst>
          </p:cNvPr>
          <p:cNvSpPr txBox="1"/>
          <p:nvPr/>
        </p:nvSpPr>
        <p:spPr>
          <a:xfrm>
            <a:off x="11778411" y="61520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813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416" y="246186"/>
            <a:ext cx="4914437" cy="1037492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Целевая аудитория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415" y="1591988"/>
            <a:ext cx="108046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 калькулятора сна - это люди, которые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испытывают проблемы с качеством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сна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группы пользователей: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нерегулярным графиком, недосыпом и трудностями с подъёмом на ранние занятия;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Работающие люди (офисные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работники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ранними подъёмами, переработками, сбитым режимом из‑за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дедлайнов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встреч в разное время;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Туристы и путешественники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разницей в часовых поясах, сложностями с адаптацией к новому времени и сном в непривычных условиях;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Родители маленьких детей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имеющие фрагментарный сон и невозможность спать «по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циклам»;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Сменные работники (медсестры, охранники, пилоты)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 графиком «сутки через трое», ночными сменами и риском хронического недосыпания.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5CD0B90-8779-45B4-81BA-C44A1D14DCBD}"/>
              </a:ext>
            </a:extLst>
          </p:cNvPr>
          <p:cNvSpPr txBox="1"/>
          <p:nvPr/>
        </p:nvSpPr>
        <p:spPr>
          <a:xfrm>
            <a:off x="11849742" y="61520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8900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416" y="246186"/>
            <a:ext cx="5796752" cy="1037492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Цель и Задачи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416" y="1682916"/>
            <a:ext cx="6085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целью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создание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простого и удобного калькулятора сна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3" t="3178" r="333" b="23310"/>
          <a:stretch/>
        </p:blipFill>
        <p:spPr bwMode="auto">
          <a:xfrm>
            <a:off x="7371914" y="0"/>
            <a:ext cx="4820086" cy="686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63416" y="2737673"/>
            <a:ext cx="67111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проекта:</a:t>
            </a: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сферу и современные научные работы по теме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расписать алгоритм работы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Продумать интерфейс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функционал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документацию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Продумать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потенциальное развитие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Предоставить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открытый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сайту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924F7EB-C4D4-400A-8CD0-D2D874B7BAD6}"/>
              </a:ext>
            </a:extLst>
          </p:cNvPr>
          <p:cNvSpPr txBox="1"/>
          <p:nvPr/>
        </p:nvSpPr>
        <p:spPr>
          <a:xfrm>
            <a:off x="11825679" y="61520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8299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7959737-6B13-46AD-93F6-FE801BC76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479" y="10643"/>
            <a:ext cx="11465168" cy="625019"/>
          </a:xfrm>
        </p:spPr>
        <p:txBody>
          <a:bodyPr rtlCol="0"/>
          <a:lstStyle/>
          <a:p>
            <a:pPr lvl="0"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Аналоги и конкуренты</a:t>
            </a:r>
          </a:p>
        </p:txBody>
      </p:sp>
      <p:graphicFrame>
        <p:nvGraphicFramePr>
          <p:cNvPr id="3" name="Таблица 2">
            <a:extLst>
              <a:ext uri="{FF2B5EF4-FFF2-40B4-BE49-F238E27FC236}">
                <a16:creationId xmlns:a16="http://schemas.microsoft.com/office/drawing/2014/main" xmlns="" id="{BEE52E89-C526-4F73-86FB-0EB31587C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909544"/>
              </p:ext>
            </p:extLst>
          </p:nvPr>
        </p:nvGraphicFramePr>
        <p:xfrm>
          <a:off x="88233" y="635661"/>
          <a:ext cx="12007513" cy="6172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377">
                  <a:extLst>
                    <a:ext uri="{9D8B030D-6E8A-4147-A177-3AD203B41FA5}">
                      <a16:colId xmlns:a16="http://schemas.microsoft.com/office/drawing/2014/main" xmlns="" val="2785900615"/>
                    </a:ext>
                  </a:extLst>
                </a:gridCol>
                <a:gridCol w="1869026">
                  <a:extLst>
                    <a:ext uri="{9D8B030D-6E8A-4147-A177-3AD203B41FA5}">
                      <a16:colId xmlns:a16="http://schemas.microsoft.com/office/drawing/2014/main" xmlns="" val="2287965835"/>
                    </a:ext>
                  </a:extLst>
                </a:gridCol>
                <a:gridCol w="1694796">
                  <a:extLst>
                    <a:ext uri="{9D8B030D-6E8A-4147-A177-3AD203B41FA5}">
                      <a16:colId xmlns:a16="http://schemas.microsoft.com/office/drawing/2014/main" xmlns="" val="1756528531"/>
                    </a:ext>
                  </a:extLst>
                </a:gridCol>
                <a:gridCol w="1748589">
                  <a:extLst>
                    <a:ext uri="{9D8B030D-6E8A-4147-A177-3AD203B41FA5}">
                      <a16:colId xmlns:a16="http://schemas.microsoft.com/office/drawing/2014/main" xmlns="" val="3202057861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xmlns="" val="2509247184"/>
                    </a:ext>
                  </a:extLst>
                </a:gridCol>
                <a:gridCol w="1716505">
                  <a:extLst>
                    <a:ext uri="{9D8B030D-6E8A-4147-A177-3AD203B41FA5}">
                      <a16:colId xmlns:a16="http://schemas.microsoft.com/office/drawing/2014/main" xmlns="" val="751458623"/>
                    </a:ext>
                  </a:extLst>
                </a:gridCol>
                <a:gridCol w="1660358">
                  <a:extLst>
                    <a:ext uri="{9D8B030D-6E8A-4147-A177-3AD203B41FA5}">
                      <a16:colId xmlns:a16="http://schemas.microsoft.com/office/drawing/2014/main" xmlns="" val="3778770060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xmlns="" val="301340737"/>
                    </a:ext>
                  </a:extLst>
                </a:gridCol>
              </a:tblGrid>
              <a:tr h="896476">
                <a:tc>
                  <a:txBody>
                    <a:bodyPr/>
                    <a:lstStyle/>
                    <a:p>
                      <a:pPr algn="ctr" rtl="0"/>
                      <a:r>
                        <a:rPr lang="ru-RU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sleepcalculator.com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calculatorov.ru/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schetchik-sna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kalkulator-sna.ru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vremiasna.ru/sleep-calculator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eachnight.com/sleep-calculator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сайт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730668"/>
                  </a:ext>
                </a:extLst>
              </a:tr>
              <a:tr h="1062231">
                <a:tc>
                  <a:txBody>
                    <a:bodyPr/>
                    <a:lstStyle/>
                    <a:p>
                      <a:pPr algn="ctr" rtl="0"/>
                      <a:r>
                        <a:rPr lang="ru-RU" sz="160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60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Внешний вид ключевой части сайта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39127716"/>
                  </a:ext>
                </a:extLst>
              </a:tr>
              <a:tr h="642695">
                <a:tc>
                  <a:txBody>
                    <a:bodyPr/>
                    <a:lstStyle/>
                    <a:p>
                      <a:pPr algn="ctr" rtl="0"/>
                      <a:r>
                        <a:rPr lang="ru-RU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Учёт времени на засыпание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05186774"/>
                  </a:ext>
                </a:extLst>
              </a:tr>
              <a:tr h="937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Предложение нескольких вариантов времени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60814750"/>
                  </a:ext>
                </a:extLst>
              </a:tr>
              <a:tr h="8263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Рекомендации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 улучшению качества сна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32936508"/>
                  </a:ext>
                </a:extLst>
              </a:tr>
              <a:tr h="10458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рекламы или прочего визуального шума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1867112"/>
                  </a:ext>
                </a:extLst>
              </a:tr>
              <a:tr h="723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600" b="0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Использование</a:t>
                      </a:r>
                      <a:r>
                        <a:rPr lang="ru-RU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одной страницы</a:t>
                      </a:r>
                      <a:endParaRPr lang="ru-RU" sz="16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ru-RU" sz="3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+—</a:t>
                      </a:r>
                      <a:endParaRPr lang="ru-RU" sz="3600" b="1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3600" b="1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617346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C8A491B-2222-449D-BCDD-34BE006382B6}"/>
              </a:ext>
            </a:extLst>
          </p:cNvPr>
          <p:cNvSpPr txBox="1"/>
          <p:nvPr/>
        </p:nvSpPr>
        <p:spPr>
          <a:xfrm>
            <a:off x="11841148" y="53587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243" y="1260678"/>
            <a:ext cx="1564104" cy="145816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/>
          <a:srcRect l="2190" t="9026" r="47900" b="11573"/>
          <a:stretch/>
        </p:blipFill>
        <p:spPr>
          <a:xfrm>
            <a:off x="4572494" y="1217736"/>
            <a:ext cx="1323472" cy="154405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5"/>
          <a:srcRect l="18933" t="2670" r="20010" b="4637"/>
          <a:stretch/>
        </p:blipFill>
        <p:spPr>
          <a:xfrm>
            <a:off x="5979696" y="1412489"/>
            <a:ext cx="1670325" cy="117061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6"/>
          <a:srcRect t="10046" r="11121"/>
          <a:stretch/>
        </p:blipFill>
        <p:spPr>
          <a:xfrm>
            <a:off x="7650021" y="1260678"/>
            <a:ext cx="1577530" cy="132372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7"/>
          <a:srcRect b="3340"/>
          <a:stretch/>
        </p:blipFill>
        <p:spPr>
          <a:xfrm>
            <a:off x="9198211" y="1445154"/>
            <a:ext cx="1463437" cy="127369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2382" y="1412489"/>
            <a:ext cx="1817937" cy="114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1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416" y="246186"/>
            <a:ext cx="6967826" cy="1037492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Анализ предметной области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416" y="2571733"/>
            <a:ext cx="93806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категория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Здоровье и фитнес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Fitness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широкая сфера цифровых инструментов для поддержания физического и ментального благополучия.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Подкатегория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Сон и восстановление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сервисы, направленные на оптимизацию сна, борьбу с бессонницей, анализ циклов сна.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инструмента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Калькулятор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онлайн‑сервис для расчётов на основе физиологических норм и пользовательских данных.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10314">
            <a:off x="9834746" y="3639873"/>
            <a:ext cx="1219200" cy="121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3417" y="1604540"/>
            <a:ext cx="10636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Калькулятор сна с точки зрения веб‑сайта относится к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предметной области «Здоровье и благополучие»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Wellness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точнее - к её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подобласти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«Гигиена сна и цифровое здоровье»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1" y="5145317"/>
            <a:ext cx="1219200" cy="12192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0264" y="2134430"/>
            <a:ext cx="1219200" cy="1219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16BBE75-216D-4F1C-ACBF-C1B2AFE586A4}"/>
              </a:ext>
            </a:extLst>
          </p:cNvPr>
          <p:cNvSpPr txBox="1"/>
          <p:nvPr/>
        </p:nvSpPr>
        <p:spPr>
          <a:xfrm>
            <a:off x="11795686" y="61520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2573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416" y="246186"/>
            <a:ext cx="6189784" cy="1037492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Инструменты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8316" y="1830994"/>
            <a:ext cx="6343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инструментов разработки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использовались: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структурирования контента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сайта;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реализации логики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сайта;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стилизации сайта.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046729"/>
            <a:ext cx="1219200" cy="1219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b="18104"/>
          <a:stretch/>
        </p:blipFill>
        <p:spPr>
          <a:xfrm rot="5400000">
            <a:off x="6891335" y="1557339"/>
            <a:ext cx="6858001" cy="374332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278" y="3987692"/>
            <a:ext cx="857249" cy="857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B77B012-E908-4151-93A8-6540BE0D8194}"/>
              </a:ext>
            </a:extLst>
          </p:cNvPr>
          <p:cNvSpPr txBox="1"/>
          <p:nvPr/>
        </p:nvSpPr>
        <p:spPr>
          <a:xfrm>
            <a:off x="11801616" y="61520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06225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790DE3B-7B19-4C51-A9C1-6B0B20A9514F}"/>
              </a:ext>
            </a:extLst>
          </p:cNvPr>
          <p:cNvSpPr txBox="1"/>
          <p:nvPr/>
        </p:nvSpPr>
        <p:spPr>
          <a:xfrm>
            <a:off x="11833128" y="61437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80" y="735569"/>
            <a:ext cx="7144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Noto Sans"/>
              </a:rPr>
              <a:t>СТАТИСТИКА ИСПОЛЬЗОВАНИЯ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66454" y="2108222"/>
            <a:ext cx="3655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Соответствие расчётов реальному результату</a:t>
            </a:r>
          </a:p>
        </p:txBody>
      </p:sp>
      <p:graphicFrame>
        <p:nvGraphicFramePr>
          <p:cNvPr id="27" name="Диаграмма 26"/>
          <p:cNvGraphicFramePr/>
          <p:nvPr>
            <p:extLst>
              <p:ext uri="{D42A27DB-BD31-4B8C-83A1-F6EECF244321}">
                <p14:modId xmlns:p14="http://schemas.microsoft.com/office/powerpoint/2010/main" val="2644716032"/>
              </p:ext>
            </p:extLst>
          </p:nvPr>
        </p:nvGraphicFramePr>
        <p:xfrm>
          <a:off x="3144296" y="2527243"/>
          <a:ext cx="5299448" cy="3420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12497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790DE3B-7B19-4C51-A9C1-6B0B20A9514F}"/>
              </a:ext>
            </a:extLst>
          </p:cNvPr>
          <p:cNvSpPr txBox="1"/>
          <p:nvPr/>
        </p:nvSpPr>
        <p:spPr>
          <a:xfrm>
            <a:off x="11833128" y="61437"/>
            <a:ext cx="25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39352" y="754008"/>
            <a:ext cx="3206261" cy="517921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705" y="4017780"/>
            <a:ext cx="4668253" cy="253382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705" y="1456003"/>
            <a:ext cx="4668253" cy="25043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8316" y="1830994"/>
            <a:ext cx="47509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включала следующие этапы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разметки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стилей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логики расчёта времени пробуждения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засыпания с помощью функций на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JavaScript.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31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416" y="246186"/>
            <a:ext cx="6189784" cy="1037492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Результат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12348" y="6311436"/>
            <a:ext cx="366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часть готового веб-сайта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416" y="1587304"/>
            <a:ext cx="51229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Результатом разработки стал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сайт, предоставляющий следующие возможности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определять оптимальное  время засыпания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пробуждения с помощью формулы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отхода ко сну, предложенной доктором Чарльзом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Пузой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росматривать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полезные рекомендации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улучшения качества сна.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1695B57-C9C1-4B6F-AF04-0A73E4C93210}"/>
              </a:ext>
            </a:extLst>
          </p:cNvPr>
          <p:cNvSpPr txBox="1"/>
          <p:nvPr/>
        </p:nvSpPr>
        <p:spPr>
          <a:xfrm>
            <a:off x="11434439" y="266330"/>
            <a:ext cx="48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4439" y="246186"/>
            <a:ext cx="69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019" y="0"/>
            <a:ext cx="6311981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31134" y="81664"/>
            <a:ext cx="48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8096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3416" y="246186"/>
            <a:ext cx="6189784" cy="1037492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ea typeface="Noto Sans"/>
                <a:cs typeface="Times New Roman" panose="02020603050405020304" pitchFamily="18" charset="0"/>
                <a:sym typeface="Noto Sans"/>
              </a:rPr>
              <a:t>Планы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416" y="1666875"/>
            <a:ext cx="734230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Первостепенным планом развития данного веб-сайта будет улучшение пользовательского опыта</a:t>
            </a: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Данная тема затрагивает большое количество параметров, отвечающих за удобство использования:</a:t>
            </a: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 параметров: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индивидуальная длительность цикла сна (80-100 мин);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точное время на засыпание (5-30 мин с шагом 5 мин).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 циклов сна для выбранного сценария;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цветовые подсказки (зелёный - лёгкая фаза, красный - глубокая).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 расчётов: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 5–10 последних сценариев.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6808" r="1371"/>
          <a:stretch/>
        </p:blipFill>
        <p:spPr>
          <a:xfrm>
            <a:off x="8108728" y="0"/>
            <a:ext cx="4111847" cy="69015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D4D5E51-AC9F-4EA5-A5F9-91C681BAB0F6}"/>
              </a:ext>
            </a:extLst>
          </p:cNvPr>
          <p:cNvSpPr txBox="1"/>
          <p:nvPr/>
        </p:nvSpPr>
        <p:spPr>
          <a:xfrm>
            <a:off x="11706583" y="61520"/>
            <a:ext cx="48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456551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4308992_TF33468121" id="{12BA0A89-130E-46D8-B46B-D3E3DEFB109F}" vid="{35C16863-B1B5-434A-B90D-80F927092AD2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949B46-24C4-420B-AB49-DDC88FEB99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0CE401-796E-4493-905E-4DDA5AF62AB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D46D58D-B27D-4B23-AEA1-AE974AB622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(изображение побережья)</Template>
  <TotalTime>0</TotalTime>
  <Words>373</Words>
  <Application>Microsoft Office PowerPoint</Application>
  <PresentationFormat>Широкоэкранный</PresentationFormat>
  <Paragraphs>154</Paragraphs>
  <Slides>12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Noto Sans</vt:lpstr>
      <vt:lpstr>Times New Roman</vt:lpstr>
      <vt:lpstr>Wingdings</vt:lpstr>
      <vt:lpstr>Тема Office</vt:lpstr>
      <vt:lpstr>Разработка Веб-сайта «Калькулятор сна»</vt:lpstr>
      <vt:lpstr>Актуальность</vt:lpstr>
      <vt:lpstr>Какую проблему решает проект?</vt:lpstr>
      <vt:lpstr>Целевая аудитория</vt:lpstr>
      <vt:lpstr>Цель и Задачи работы</vt:lpstr>
      <vt:lpstr>Аналоги и конкуренты</vt:lpstr>
      <vt:lpstr>Анализ предметной области</vt:lpstr>
      <vt:lpstr>Инструменты разработки</vt:lpstr>
      <vt:lpstr>Презентация PowerPoint</vt:lpstr>
      <vt:lpstr>разработка</vt:lpstr>
      <vt:lpstr>Результат работы</vt:lpstr>
      <vt:lpstr>Планы развития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2025-12-15T23:04:48Z</dcterms:created>
  <dcterms:modified xsi:type="dcterms:W3CDTF">2026-02-04T13:47:01Z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